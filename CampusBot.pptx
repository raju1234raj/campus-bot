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63" r:id="rId18"/>
    <p:sldId id="265" r:id="rId19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0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52" d="100"/>
          <a:sy n="52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18927F8-3293-4476-4AA2-A88EFAFDF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37832DEE-C18D-DE25-2789-8442640929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AEDF57EB-F122-DF3E-3035-50CA5C545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9237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C54E339-CA88-755F-104D-0E8A4B15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D509E9BE-7F17-8B4A-D62B-C115D8D9E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3F48BA40-DFCC-1536-1D01-367C0080A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4355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CB36BA4-6AB1-47A8-DE51-A0581E3B1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0D494F23-67F0-8BA6-2504-B4FAD3E72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EFD1CC35-77E0-7CD5-9E01-6F29FF9ED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933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2DE5F0A-79AB-C9DD-45D7-7C4246EDB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5516FE6B-2E08-8E54-5DC6-ED9A3EA4CF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2BC5CAB3-7A4E-DA5B-296C-083D99589F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142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37F0AEC-58F9-55A8-1EDF-75B7CA3C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1DA05A91-F846-FF39-591A-860641F9E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DE30FC3F-D161-EE0F-3FC4-8B0A61BE4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2529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A2DB3B6-D061-1405-7FF2-C97048511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BCD76B34-DA68-DB9A-50DE-C3122FB18B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ED9C6712-4B45-ABD5-B66E-56B2EE8C94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8247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EB567F6-AB00-A7FF-E512-88DC3FA0F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512975C0-832B-18AC-66E9-7D622DD78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87E59C9A-E907-FCCF-9FE4-F003C7365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9372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53AD05D-55BA-E6FF-8FDE-077B68091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192D12EA-E4E8-77B7-1CD7-FBF73F686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36CB8C18-6B89-718C-EC5B-80C8CC1387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6874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F1278F6-C65A-006B-EF98-27E598AB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BFDBFA9D-3CCD-4537-611C-58B725C27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0ABCE5D8-1F69-B2D9-3199-30E357D3E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0962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F3758E2-89A1-72C3-9A11-755BC9539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84E85858-3BA3-0810-6456-A8CBBF2AC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55F18385-2098-3762-9D50-A73CF59B6D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3346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1AEA5CA-944E-8CFB-C15B-ADF345F4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3D3C6235-0A9D-419C-B87B-912561700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EC45B176-9656-7573-04B4-31B4FA000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9031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861905" y="6887051"/>
            <a:ext cx="1483037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Made by </a:t>
            </a:r>
            <a:r>
              <a:rPr lang="en-US" sz="7200" dirty="0" err="1">
                <a:solidFill>
                  <a:srgbClr val="FFFFFF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Rajendrasingh</a:t>
            </a:r>
            <a:r>
              <a:rPr lang="en-US" sz="7200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 Rajpurohit</a:t>
            </a:r>
            <a:endParaRPr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861905" y="2919886"/>
            <a:ext cx="15253522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University Central Student Portal with Virtual Assistant</a:t>
            </a:r>
            <a:endParaRPr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157288" y="2193608"/>
            <a:ext cx="3816689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B893D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May 26, 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Google Shape;90;p13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1" name="Google Shape;91;p13"/>
          <p:cNvGrpSpPr/>
          <p:nvPr/>
        </p:nvGrpSpPr>
        <p:grpSpPr>
          <a:xfrm>
            <a:off x="15998058" y="8486419"/>
            <a:ext cx="1251932" cy="1251932"/>
            <a:chOff x="0" y="0"/>
            <a:chExt cx="812800" cy="812800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16249664" y="8834234"/>
            <a:ext cx="740808" cy="556197"/>
            <a:chOff x="0" y="9998"/>
            <a:chExt cx="987744" cy="741596"/>
          </a:xfrm>
        </p:grpSpPr>
        <p:cxnSp>
          <p:nvCxnSpPr>
            <p:cNvPr id="95" name="Google Shape;95;p13"/>
            <p:cNvCxnSpPr/>
            <p:nvPr/>
          </p:nvCxnSpPr>
          <p:spPr>
            <a:xfrm>
              <a:off x="0" y="385708"/>
              <a:ext cx="971679" cy="0"/>
            </a:xfrm>
            <a:prstGeom prst="straightConnector1">
              <a:avLst/>
            </a:prstGeom>
            <a:noFill/>
            <a:ln w="2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13"/>
            <p:cNvCxnSpPr/>
            <p:nvPr/>
          </p:nvCxnSpPr>
          <p:spPr>
            <a:xfrm rot="10800000" flipH="1">
              <a:off x="622689" y="376515"/>
              <a:ext cx="365055" cy="375079"/>
            </a:xfrm>
            <a:prstGeom prst="straightConnector1">
              <a:avLst/>
            </a:prstGeom>
            <a:noFill/>
            <a:ln w="2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13"/>
            <p:cNvCxnSpPr/>
            <p:nvPr/>
          </p:nvCxnSpPr>
          <p:spPr>
            <a:xfrm rot="10800000">
              <a:off x="622689" y="9998"/>
              <a:ext cx="365055" cy="385156"/>
            </a:xfrm>
            <a:prstGeom prst="straightConnector1">
              <a:avLst/>
            </a:prstGeom>
            <a:noFill/>
            <a:ln w="2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" name="Google Shape;93;p13">
            <a:extLst>
              <a:ext uri="{FF2B5EF4-FFF2-40B4-BE49-F238E27FC236}">
                <a16:creationId xmlns:a16="http://schemas.microsoft.com/office/drawing/2014/main" id="{993138C1-CCEE-BAAF-BF76-9E0B85B8814B}"/>
              </a:ext>
            </a:extLst>
          </p:cNvPr>
          <p:cNvSpPr txBox="1"/>
          <p:nvPr/>
        </p:nvSpPr>
        <p:spPr>
          <a:xfrm>
            <a:off x="16267827" y="8682832"/>
            <a:ext cx="1017195" cy="10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/>
        </p:nvSpPr>
        <p:spPr>
          <a:xfrm>
            <a:off x="1033355" y="1985328"/>
            <a:ext cx="16523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Index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33355" y="3970205"/>
            <a:ext cx="8467833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Submission Report Details</a:t>
            </a:r>
          </a:p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Project Objective &amp; Description</a:t>
            </a:r>
          </a:p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Technologies Used</a:t>
            </a:r>
          </a:p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</a:p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Project Links</a:t>
            </a:r>
          </a:p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 &amp; Summary</a:t>
            </a:r>
          </a:p>
        </p:txBody>
      </p:sp>
      <p:grpSp>
        <p:nvGrpSpPr>
          <p:cNvPr id="110" name="Google Shape;110;p14"/>
          <p:cNvGrpSpPr/>
          <p:nvPr/>
        </p:nvGrpSpPr>
        <p:grpSpPr>
          <a:xfrm>
            <a:off x="15998058" y="8632334"/>
            <a:ext cx="1251932" cy="1251932"/>
            <a:chOff x="0" y="0"/>
            <a:chExt cx="812800" cy="812800"/>
          </a:xfrm>
        </p:grpSpPr>
        <p:sp>
          <p:nvSpPr>
            <p:cNvPr id="111" name="Google Shape;11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16249664" y="8980149"/>
            <a:ext cx="740808" cy="556197"/>
            <a:chOff x="0" y="9998"/>
            <a:chExt cx="987744" cy="741596"/>
          </a:xfrm>
        </p:grpSpPr>
        <p:cxnSp>
          <p:nvCxnSpPr>
            <p:cNvPr id="114" name="Google Shape;114;p14"/>
            <p:cNvCxnSpPr/>
            <p:nvPr/>
          </p:nvCxnSpPr>
          <p:spPr>
            <a:xfrm>
              <a:off x="0" y="385708"/>
              <a:ext cx="971679" cy="0"/>
            </a:xfrm>
            <a:prstGeom prst="straightConnector1">
              <a:avLst/>
            </a:prstGeom>
            <a:noFill/>
            <a:ln w="2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5" name="Google Shape;115;p14"/>
            <p:cNvCxnSpPr/>
            <p:nvPr/>
          </p:nvCxnSpPr>
          <p:spPr>
            <a:xfrm rot="10800000" flipH="1">
              <a:off x="622689" y="376515"/>
              <a:ext cx="365055" cy="375079"/>
            </a:xfrm>
            <a:prstGeom prst="straightConnector1">
              <a:avLst/>
            </a:prstGeom>
            <a:noFill/>
            <a:ln w="2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14"/>
            <p:cNvCxnSpPr/>
            <p:nvPr/>
          </p:nvCxnSpPr>
          <p:spPr>
            <a:xfrm rot="10800000">
              <a:off x="622689" y="9998"/>
              <a:ext cx="365055" cy="385156"/>
            </a:xfrm>
            <a:prstGeom prst="straightConnector1">
              <a:avLst/>
            </a:prstGeom>
            <a:noFill/>
            <a:ln w="2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19" name="Google Shape;119;p14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/>
        </p:nvSpPr>
        <p:spPr>
          <a:xfrm>
            <a:off x="833073" y="936994"/>
            <a:ext cx="17112027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PROJECT SUBMISSION REPORT DETAILS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033355" y="3477328"/>
            <a:ext cx="49434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Credentials</a:t>
            </a:r>
          </a:p>
        </p:txBody>
      </p:sp>
      <p:cxnSp>
        <p:nvCxnSpPr>
          <p:cNvPr id="143" name="Google Shape;143;p15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15">
            <a:extLst>
              <a:ext uri="{FF2B5EF4-FFF2-40B4-BE49-F238E27FC236}">
                <a16:creationId xmlns:a16="http://schemas.microsoft.com/office/drawing/2014/main" id="{AC442744-96A0-6DAD-69F4-3B4EA30FEC78}"/>
              </a:ext>
            </a:extLst>
          </p:cNvPr>
          <p:cNvSpPr txBox="1"/>
          <p:nvPr/>
        </p:nvSpPr>
        <p:spPr>
          <a:xfrm>
            <a:off x="833071" y="4701361"/>
            <a:ext cx="14111653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51435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BB893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ormorant Garamond Medium"/>
              </a:rPr>
              <a:t>Rajendrasingh</a:t>
            </a:r>
            <a:r>
              <a:rPr lang="en-US" sz="3200" dirty="0">
                <a:solidFill>
                  <a:srgbClr val="BB893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ormorant Garamond Medium"/>
              </a:rPr>
              <a:t>  Rajpurohit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127;p15">
            <a:extLst>
              <a:ext uri="{FF2B5EF4-FFF2-40B4-BE49-F238E27FC236}">
                <a16:creationId xmlns:a16="http://schemas.microsoft.com/office/drawing/2014/main" id="{9AFF94A4-A3D7-B256-8B41-41E19386D392}"/>
              </a:ext>
            </a:extLst>
          </p:cNvPr>
          <p:cNvSpPr txBox="1"/>
          <p:nvPr/>
        </p:nvSpPr>
        <p:spPr>
          <a:xfrm>
            <a:off x="833071" y="4061186"/>
            <a:ext cx="14111653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Title: </a:t>
            </a:r>
            <a:r>
              <a:rPr lang="en-US" sz="3200" dirty="0">
                <a:solidFill>
                  <a:srgbClr val="BB893D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University Central Student Portal  with Virtual Assistant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27;p15">
            <a:extLst>
              <a:ext uri="{FF2B5EF4-FFF2-40B4-BE49-F238E27FC236}">
                <a16:creationId xmlns:a16="http://schemas.microsoft.com/office/drawing/2014/main" id="{065DFF2B-CDB3-2ACC-C9DA-A1D9C1DDEAAA}"/>
              </a:ext>
            </a:extLst>
          </p:cNvPr>
          <p:cNvSpPr txBox="1"/>
          <p:nvPr/>
        </p:nvSpPr>
        <p:spPr>
          <a:xfrm>
            <a:off x="833070" y="5341536"/>
            <a:ext cx="14111653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51435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</a:t>
            </a:r>
            <a:r>
              <a:rPr lang="en-US" sz="3200" b="1" dirty="0">
                <a:solidFill>
                  <a:srgbClr val="BB893D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L</a:t>
            </a:r>
            <a:r>
              <a:rPr lang="en-US" sz="3200" dirty="0">
                <a:solidFill>
                  <a:srgbClr val="BB893D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enovo LEAP NextGen Scholar Program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27;p15">
            <a:extLst>
              <a:ext uri="{FF2B5EF4-FFF2-40B4-BE49-F238E27FC236}">
                <a16:creationId xmlns:a16="http://schemas.microsoft.com/office/drawing/2014/main" id="{54324D2C-3F88-8BBE-0F0F-8537CFBE14C1}"/>
              </a:ext>
            </a:extLst>
          </p:cNvPr>
          <p:cNvSpPr txBox="1"/>
          <p:nvPr/>
        </p:nvSpPr>
        <p:spPr>
          <a:xfrm>
            <a:off x="833069" y="5981711"/>
            <a:ext cx="14111653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51435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/ Batch: </a:t>
            </a:r>
            <a:r>
              <a:rPr lang="en-US" sz="3200" dirty="0">
                <a:solidFill>
                  <a:srgbClr val="BB893D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Artificial Intelligence / June 2026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27;p15">
            <a:extLst>
              <a:ext uri="{FF2B5EF4-FFF2-40B4-BE49-F238E27FC236}">
                <a16:creationId xmlns:a16="http://schemas.microsoft.com/office/drawing/2014/main" id="{7EC6A043-C16A-883B-4708-88B155AA55E0}"/>
              </a:ext>
            </a:extLst>
          </p:cNvPr>
          <p:cNvSpPr txBox="1"/>
          <p:nvPr/>
        </p:nvSpPr>
        <p:spPr>
          <a:xfrm>
            <a:off x="833069" y="6668313"/>
            <a:ext cx="14111653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51435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Date: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BB893D"/>
                </a:solidFill>
                <a:latin typeface="Times New Roman" panose="02020603050405020304" pitchFamily="18" charset="0"/>
                <a:ea typeface="Cormorant Garamond Medium"/>
                <a:cs typeface="Times New Roman" panose="02020603050405020304" pitchFamily="18" charset="0"/>
                <a:sym typeface="Cormorant Garamond Medium"/>
              </a:rPr>
              <a:t>/06/2026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16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50" name="Google Shape;150;p16"/>
          <p:cNvGrpSpPr/>
          <p:nvPr/>
        </p:nvGrpSpPr>
        <p:grpSpPr>
          <a:xfrm>
            <a:off x="15998058" y="8632334"/>
            <a:ext cx="1251932" cy="1251932"/>
            <a:chOff x="0" y="0"/>
            <a:chExt cx="1669242" cy="1669242"/>
          </a:xfrm>
        </p:grpSpPr>
        <p:grpSp>
          <p:nvGrpSpPr>
            <p:cNvPr id="151" name="Google Shape;151;p16"/>
            <p:cNvGrpSpPr/>
            <p:nvPr/>
          </p:nvGrpSpPr>
          <p:grpSpPr>
            <a:xfrm>
              <a:off x="0" y="0"/>
              <a:ext cx="1669242" cy="1669242"/>
              <a:chOff x="0" y="0"/>
              <a:chExt cx="812800" cy="812800"/>
            </a:xfrm>
          </p:grpSpPr>
          <p:sp>
            <p:nvSpPr>
              <p:cNvPr id="152" name="Google Shape;152;p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Google Shape;153;p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cxnSp>
          <p:nvCxnSpPr>
            <p:cNvPr id="154" name="Google Shape;154;p16"/>
            <p:cNvCxnSpPr/>
            <p:nvPr/>
          </p:nvCxnSpPr>
          <p:spPr>
            <a:xfrm>
              <a:off x="335475" y="839464"/>
              <a:ext cx="971679" cy="0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5" name="Google Shape;155;p16"/>
            <p:cNvCxnSpPr/>
            <p:nvPr/>
          </p:nvCxnSpPr>
          <p:spPr>
            <a:xfrm rot="10800000" flipH="1">
              <a:off x="958164" y="830271"/>
              <a:ext cx="365055" cy="375079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6" name="Google Shape;156;p16"/>
            <p:cNvCxnSpPr/>
            <p:nvPr/>
          </p:nvCxnSpPr>
          <p:spPr>
            <a:xfrm rot="10800000">
              <a:off x="958164" y="463753"/>
              <a:ext cx="365055" cy="385156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7" name="Google Shape;157;p16"/>
          <p:cNvSpPr txBox="1"/>
          <p:nvPr/>
        </p:nvSpPr>
        <p:spPr>
          <a:xfrm>
            <a:off x="871538" y="747300"/>
            <a:ext cx="9972675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I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Project Objective &amp; Description</a:t>
            </a:r>
            <a:endParaRPr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500063" y="3481507"/>
            <a:ext cx="14701837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unified desktop portal where students can view academic dashboards, access course records and grades, and get instant answers to common campus questions through a virtual assistant.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Description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student portal featuring three integrated modules: a 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with announcements and GPA overview, a 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Database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displaying enrolled courses with grades, and a 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Helpdesk Bot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that responds to FAQs about IT, tuition, shuttle schedules, and health services. The application uses a sidebar navigation system with a collegiate burgundy and gold color theme.</a:t>
            </a:r>
            <a:endParaRPr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17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7"/>
          <p:cNvSpPr txBox="1"/>
          <p:nvPr/>
        </p:nvSpPr>
        <p:spPr>
          <a:xfrm>
            <a:off x="1028700" y="1385403"/>
            <a:ext cx="774382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Technologies Used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707231" y="3039168"/>
            <a:ext cx="13380244" cy="541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3.12: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Primary programming language for application logic and navigation.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GUI framework for windows, sidebar, chat interface, and tables.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IDE used to write, debug, and run the code.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Event Handling: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Class-based pages and command buttons for frame switching and chatbot replies.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29EDC8FC-52C8-0302-9047-9A6903CD9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EBB9AAD8-82C6-F96B-B976-96316810787D}"/>
              </a:ext>
            </a:extLst>
          </p:cNvPr>
          <p:cNvPicPr preferRelativeResize="0"/>
          <p:nvPr/>
        </p:nvPicPr>
        <p:blipFill>
          <a:blip r:embed="rId3"/>
          <a:srcRect r="12261"/>
          <a:stretch>
            <a:fillRect/>
          </a:stretch>
        </p:blipFill>
        <p:spPr>
          <a:xfrm>
            <a:off x="256115" y="2843453"/>
            <a:ext cx="812588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B395A2E5-7887-D2BB-713B-31793362B3E5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C4E5A791-C1CD-152F-A7AB-5C20A8F621AF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5F1D2ABD-B715-9DD0-1134-E300DF56AF48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BCAE0-4149-2BF9-D01E-8D30FD44CDB8}"/>
              </a:ext>
            </a:extLst>
          </p:cNvPr>
          <p:cNvSpPr txBox="1"/>
          <p:nvPr/>
        </p:nvSpPr>
        <p:spPr>
          <a:xfrm>
            <a:off x="1033355" y="2006651"/>
            <a:ext cx="9151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Screenshots 1 and 2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75;p18">
            <a:extLst>
              <a:ext uri="{FF2B5EF4-FFF2-40B4-BE49-F238E27FC236}">
                <a16:creationId xmlns:a16="http://schemas.microsoft.com/office/drawing/2014/main" id="{2C735261-31A9-30BF-97EE-49E032799D8A}"/>
              </a:ext>
            </a:extLst>
          </p:cNvPr>
          <p:cNvPicPr preferRelativeResize="0"/>
          <p:nvPr/>
        </p:nvPicPr>
        <p:blipFill>
          <a:blip r:embed="rId4"/>
          <a:srcRect l="10134" r="10134"/>
          <a:stretch/>
        </p:blipFill>
        <p:spPr>
          <a:xfrm>
            <a:off x="9144000" y="2843453"/>
            <a:ext cx="7970519" cy="7051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397064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5B2322A6-E139-B1D8-2EE9-C639FB41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B3DD333D-5FA6-FCFE-C007-605B00150CFF}"/>
              </a:ext>
            </a:extLst>
          </p:cNvPr>
          <p:cNvPicPr preferRelativeResize="0"/>
          <p:nvPr/>
        </p:nvPicPr>
        <p:blipFill>
          <a:blip r:embed="rId3"/>
          <a:srcRect l="17627" r="17627"/>
          <a:stretch/>
        </p:blipFill>
        <p:spPr>
          <a:xfrm>
            <a:off x="256115" y="2843453"/>
            <a:ext cx="812588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C9B2D19C-9447-38E6-405F-6594CA837B93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1D13F1DE-9B79-2790-B1BD-BE4E4A9F4E8F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14486B62-CF96-A629-565F-BA7E354003A0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1134F-E94D-DB2C-260A-7C8C1EC4A4C2}"/>
              </a:ext>
            </a:extLst>
          </p:cNvPr>
          <p:cNvSpPr txBox="1"/>
          <p:nvPr/>
        </p:nvSpPr>
        <p:spPr>
          <a:xfrm>
            <a:off x="1033355" y="2006651"/>
            <a:ext cx="9151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Screenshots 3 and 4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75;p18">
            <a:extLst>
              <a:ext uri="{FF2B5EF4-FFF2-40B4-BE49-F238E27FC236}">
                <a16:creationId xmlns:a16="http://schemas.microsoft.com/office/drawing/2014/main" id="{8749FE79-AD07-F8A5-8BEA-5E24B47BD7C2}"/>
              </a:ext>
            </a:extLst>
          </p:cNvPr>
          <p:cNvPicPr preferRelativeResize="0"/>
          <p:nvPr/>
        </p:nvPicPr>
        <p:blipFill>
          <a:blip r:embed="rId4"/>
          <a:srcRect l="19271" r="19271"/>
          <a:stretch/>
        </p:blipFill>
        <p:spPr>
          <a:xfrm>
            <a:off x="9144000" y="2843453"/>
            <a:ext cx="8473440" cy="7051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947803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755BBCFB-F79F-C932-F36E-CDB33C22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BCE736DD-F041-A364-164B-6708DC77C9BE}"/>
              </a:ext>
            </a:extLst>
          </p:cNvPr>
          <p:cNvPicPr preferRelativeResize="0"/>
          <p:nvPr/>
        </p:nvPicPr>
        <p:blipFill>
          <a:blip r:embed="rId3"/>
          <a:srcRect l="18169" r="18169"/>
          <a:stretch/>
        </p:blipFill>
        <p:spPr>
          <a:xfrm>
            <a:off x="256115" y="2843453"/>
            <a:ext cx="812588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0988451E-C6DC-8FF2-7588-542D15555DED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15DDB43F-CC8F-C9D1-CAE9-5657639CB632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2F267D2C-5B19-943E-5CE7-D752E011FB1F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2C613-354E-8E36-7029-E6E7C02CB7C2}"/>
              </a:ext>
            </a:extLst>
          </p:cNvPr>
          <p:cNvSpPr txBox="1"/>
          <p:nvPr/>
        </p:nvSpPr>
        <p:spPr>
          <a:xfrm>
            <a:off x="1033355" y="2006651"/>
            <a:ext cx="9151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Screenshots 5 and 6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75;p18">
            <a:extLst>
              <a:ext uri="{FF2B5EF4-FFF2-40B4-BE49-F238E27FC236}">
                <a16:creationId xmlns:a16="http://schemas.microsoft.com/office/drawing/2014/main" id="{FA321EAF-E96D-F686-9224-7CC028E3E593}"/>
              </a:ext>
            </a:extLst>
          </p:cNvPr>
          <p:cNvPicPr preferRelativeResize="0"/>
          <p:nvPr/>
        </p:nvPicPr>
        <p:blipFill>
          <a:blip r:embed="rId4"/>
          <a:srcRect l="17729" r="17729"/>
          <a:stretch/>
        </p:blipFill>
        <p:spPr>
          <a:xfrm>
            <a:off x="9144000" y="2843453"/>
            <a:ext cx="7970519" cy="7051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308653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DD6CC35F-2AD9-9678-45BB-F6402CBC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407BE048-3766-87DA-7FCB-23BA2F1334BE}"/>
              </a:ext>
            </a:extLst>
          </p:cNvPr>
          <p:cNvPicPr preferRelativeResize="0"/>
          <p:nvPr/>
        </p:nvPicPr>
        <p:blipFill>
          <a:blip r:embed="rId3"/>
          <a:srcRect l="19487" r="19487"/>
          <a:stretch/>
        </p:blipFill>
        <p:spPr>
          <a:xfrm>
            <a:off x="724521" y="2652982"/>
            <a:ext cx="9151144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3C21191D-8CFB-2B3E-06B7-7CF6714BBC29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A0F973E7-70E0-CA29-88C7-1335EABE9948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31243138-8877-9FF1-A0FC-609078ADB4F9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10A12-6193-FF55-ECA8-C7A8C2637FC2}"/>
              </a:ext>
            </a:extLst>
          </p:cNvPr>
          <p:cNvSpPr txBox="1"/>
          <p:nvPr/>
        </p:nvSpPr>
        <p:spPr>
          <a:xfrm>
            <a:off x="1033355" y="2006651"/>
            <a:ext cx="9151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Screenshot 7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49766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08D88C5-06D3-BDD7-F911-1E1403F1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06A69960-243D-5CAD-EE9A-EDE4B9D0CDC4}"/>
              </a:ext>
            </a:extLst>
          </p:cNvPr>
          <p:cNvPicPr preferRelativeResize="0"/>
          <p:nvPr/>
        </p:nvPicPr>
        <p:blipFill>
          <a:blip r:embed="rId3"/>
          <a:srcRect t="12009" b="12009"/>
          <a:stretch/>
        </p:blipFill>
        <p:spPr>
          <a:xfrm>
            <a:off x="301835" y="2843453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96AA638A-4D29-722B-20D4-BC1DBB580C93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124B867A-35B7-4557-8CAD-68F548B01F9C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E8369D5B-B381-C64D-FD32-C06B77CC0CE4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296DB-CCD4-54D8-E10E-28A5B8367223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18495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38B47EB-FF28-D1F3-48D8-2CA9B989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1E1799D3-A249-F0D9-B23F-789C8CE97AF9}"/>
              </a:ext>
            </a:extLst>
          </p:cNvPr>
          <p:cNvPicPr preferRelativeResize="0"/>
          <p:nvPr/>
        </p:nvPicPr>
        <p:blipFill>
          <a:blip r:embed="rId3"/>
          <a:srcRect t="12339" b="12339"/>
          <a:stretch/>
        </p:blipFill>
        <p:spPr>
          <a:xfrm>
            <a:off x="349037" y="2816432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AD1C173B-983B-A32C-3C5F-AA67C144C018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532D4FD4-BBA7-0450-A5F6-BBD2DBC7F3C9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64259799-F1FA-934B-F0E0-69D8A1D92572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BB1E05-5412-49CC-5548-141D4F82B4E5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06276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4DDDFA3-208D-BE62-F496-0B04AC57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4C36AB16-599C-9F68-3C06-67FFEF41FF95}"/>
              </a:ext>
            </a:extLst>
          </p:cNvPr>
          <p:cNvPicPr preferRelativeResize="0"/>
          <p:nvPr/>
        </p:nvPicPr>
        <p:blipFill>
          <a:blip r:embed="rId3"/>
          <a:srcRect t="11745" b="11745"/>
          <a:stretch/>
        </p:blipFill>
        <p:spPr>
          <a:xfrm>
            <a:off x="349037" y="2816432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D5A58676-6863-4384-6668-0A44E813FDB1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E20A405C-F374-D448-7D32-9BC090F411AD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F9A1E233-D872-FA14-2C9C-450E95A3244B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C5CEF-312D-3184-5749-DA6677B2A865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28733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D0D893E-FF03-C7DE-13B8-D4B387D21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B157EBB5-0BF0-7269-3E99-6AC743261617}"/>
              </a:ext>
            </a:extLst>
          </p:cNvPr>
          <p:cNvPicPr preferRelativeResize="0"/>
          <p:nvPr/>
        </p:nvPicPr>
        <p:blipFill>
          <a:blip r:embed="rId3"/>
          <a:srcRect t="11940" b="11940"/>
          <a:stretch/>
        </p:blipFill>
        <p:spPr>
          <a:xfrm>
            <a:off x="349037" y="2816432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5A833CC2-97EB-F7DB-1AC2-AAAB56B14043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C9B473D2-A003-5E8A-DC74-E453704E56B2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E0237C7C-DFAD-C5E3-8BE3-32461B0ED316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18BAE7-D1D0-A3DD-4DC6-733BE5343EF6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55148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C794B59-D610-CDD5-A841-0CA588DE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C378D660-3183-0C6C-F4D1-D4F142288A5C}"/>
              </a:ext>
            </a:extLst>
          </p:cNvPr>
          <p:cNvPicPr preferRelativeResize="0"/>
          <p:nvPr/>
        </p:nvPicPr>
        <p:blipFill>
          <a:blip r:embed="rId3"/>
          <a:srcRect t="11972" b="11972"/>
          <a:stretch/>
        </p:blipFill>
        <p:spPr>
          <a:xfrm>
            <a:off x="349037" y="2816432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C1A1E89F-68BA-CB39-2B90-341D1BE9D3ED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E11366DD-30A9-DD16-D61C-FDC6A7B24042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D66F1926-A3FA-AF3A-D09F-BF65C9212AF9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9A96A-9BEC-5461-6E69-489514F2F5F0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43914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CE3900E-D6B8-09A6-7433-9F9115B8E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F0CC29C7-AE08-0EF0-D2F9-57381EF688EE}"/>
              </a:ext>
            </a:extLst>
          </p:cNvPr>
          <p:cNvPicPr preferRelativeResize="0"/>
          <p:nvPr/>
        </p:nvPicPr>
        <p:blipFill>
          <a:blip r:embed="rId3"/>
          <a:srcRect t="11360" b="11360"/>
          <a:stretch/>
        </p:blipFill>
        <p:spPr>
          <a:xfrm>
            <a:off x="349037" y="2816432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E5BA6AF9-50D3-1274-79FF-11FEB995AB3D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05FA8BA7-A96C-BF54-1CED-C0928DA9D8C8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16BF0778-E1E4-82D0-2D87-25DCB213BB64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054C6-A81C-A946-6EC6-4BD692EAB11B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82136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2FC62CA-D04D-746F-DC02-E605E7D5F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>
            <a:extLst>
              <a:ext uri="{FF2B5EF4-FFF2-40B4-BE49-F238E27FC236}">
                <a16:creationId xmlns:a16="http://schemas.microsoft.com/office/drawing/2014/main" id="{89B8B773-3354-0B6F-7592-0865A0004888}"/>
              </a:ext>
            </a:extLst>
          </p:cNvPr>
          <p:cNvPicPr preferRelativeResize="0"/>
          <p:nvPr/>
        </p:nvPicPr>
        <p:blipFill>
          <a:blip r:embed="rId3"/>
          <a:srcRect t="11476" b="11476"/>
          <a:stretch/>
        </p:blipFill>
        <p:spPr>
          <a:xfrm>
            <a:off x="436245" y="2843453"/>
            <a:ext cx="17589925" cy="705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>
            <a:extLst>
              <a:ext uri="{FF2B5EF4-FFF2-40B4-BE49-F238E27FC236}">
                <a16:creationId xmlns:a16="http://schemas.microsoft.com/office/drawing/2014/main" id="{4D49D6F2-6C0B-1796-21FE-E274F43F539A}"/>
              </a:ext>
            </a:extLst>
          </p:cNvPr>
          <p:cNvCxnSpPr/>
          <p:nvPr/>
        </p:nvCxnSpPr>
        <p:spPr>
          <a:xfrm>
            <a:off x="1033355" y="418688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18">
            <a:extLst>
              <a:ext uri="{FF2B5EF4-FFF2-40B4-BE49-F238E27FC236}">
                <a16:creationId xmlns:a16="http://schemas.microsoft.com/office/drawing/2014/main" id="{FFFFF6A3-8180-5137-CC4B-A1EECC494AB7}"/>
              </a:ext>
            </a:extLst>
          </p:cNvPr>
          <p:cNvCxnSpPr/>
          <p:nvPr/>
        </p:nvCxnSpPr>
        <p:spPr>
          <a:xfrm>
            <a:off x="9875665" y="1826904"/>
            <a:ext cx="815050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15DFA7EB-0A22-2103-B16A-4AB62D792BD7}"/>
              </a:ext>
            </a:extLst>
          </p:cNvPr>
          <p:cNvSpPr txBox="1"/>
          <p:nvPr/>
        </p:nvSpPr>
        <p:spPr>
          <a:xfrm>
            <a:off x="1033355" y="648168"/>
            <a:ext cx="11730038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Screenshots with Explanation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AB2135-D68F-C876-2F32-050C4D973FF6}"/>
              </a:ext>
            </a:extLst>
          </p:cNvPr>
          <p:cNvSpPr txBox="1"/>
          <p:nvPr/>
        </p:nvSpPr>
        <p:spPr>
          <a:xfrm>
            <a:off x="1033355" y="2006651"/>
            <a:ext cx="486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47927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/>
          <p:cNvPicPr preferRelativeResize="0"/>
          <p:nvPr/>
        </p:nvPicPr>
        <p:blipFill>
          <a:blip r:embed="rId3"/>
          <a:srcRect l="2775"/>
          <a:stretch>
            <a:fillRect/>
          </a:stretch>
        </p:blipFill>
        <p:spPr>
          <a:xfrm>
            <a:off x="8376159" y="4232918"/>
            <a:ext cx="7739268" cy="530678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1033355" y="898253"/>
            <a:ext cx="11935199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I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Project Links</a:t>
            </a:r>
            <a:endParaRPr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023421" y="2115652"/>
            <a:ext cx="132412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Link: 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Platform: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IDE Local Environment.</a:t>
            </a:r>
          </a:p>
        </p:txBody>
      </p:sp>
      <p:cxnSp>
        <p:nvCxnSpPr>
          <p:cNvPr id="204" name="Google Shape;204;p20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07" name="Google Shape;207;p20"/>
          <p:cNvGrpSpPr/>
          <p:nvPr/>
        </p:nvGrpSpPr>
        <p:grpSpPr>
          <a:xfrm>
            <a:off x="15998058" y="1571722"/>
            <a:ext cx="1251932" cy="1251932"/>
            <a:chOff x="0" y="0"/>
            <a:chExt cx="1669242" cy="1669242"/>
          </a:xfrm>
        </p:grpSpPr>
        <p:grpSp>
          <p:nvGrpSpPr>
            <p:cNvPr id="208" name="Google Shape;208;p20"/>
            <p:cNvGrpSpPr/>
            <p:nvPr/>
          </p:nvGrpSpPr>
          <p:grpSpPr>
            <a:xfrm>
              <a:off x="0" y="0"/>
              <a:ext cx="1669242" cy="1669242"/>
              <a:chOff x="0" y="0"/>
              <a:chExt cx="812800" cy="812800"/>
            </a:xfrm>
          </p:grpSpPr>
          <p:sp>
            <p:nvSpPr>
              <p:cNvPr id="209" name="Google Shape;209;p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0" name="Google Shape;210;p2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cxnSp>
          <p:nvCxnSpPr>
            <p:cNvPr id="211" name="Google Shape;211;p20"/>
            <p:cNvCxnSpPr/>
            <p:nvPr/>
          </p:nvCxnSpPr>
          <p:spPr>
            <a:xfrm>
              <a:off x="335475" y="839464"/>
              <a:ext cx="971679" cy="0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" name="Google Shape;212;p20"/>
            <p:cNvCxnSpPr/>
            <p:nvPr/>
          </p:nvCxnSpPr>
          <p:spPr>
            <a:xfrm rot="10800000" flipH="1">
              <a:off x="958164" y="830271"/>
              <a:ext cx="365055" cy="375079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20"/>
            <p:cNvCxnSpPr/>
            <p:nvPr/>
          </p:nvCxnSpPr>
          <p:spPr>
            <a:xfrm rot="10800000">
              <a:off x="958164" y="463753"/>
              <a:ext cx="365055" cy="385156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/>
          <p:nvPr/>
        </p:nvSpPr>
        <p:spPr>
          <a:xfrm>
            <a:off x="1033355" y="1028700"/>
            <a:ext cx="12203674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 &amp; Summary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4" name="Google Shape;244;p22"/>
          <p:cNvCxnSpPr/>
          <p:nvPr/>
        </p:nvCxnSpPr>
        <p:spPr>
          <a:xfrm>
            <a:off x="1033355" y="747300"/>
            <a:ext cx="1622129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243;p22">
            <a:extLst>
              <a:ext uri="{FF2B5EF4-FFF2-40B4-BE49-F238E27FC236}">
                <a16:creationId xmlns:a16="http://schemas.microsoft.com/office/drawing/2014/main" id="{2E1440FE-7B9A-49CE-B221-20BED63EF75C}"/>
              </a:ext>
            </a:extLst>
          </p:cNvPr>
          <p:cNvSpPr txBox="1"/>
          <p:nvPr/>
        </p:nvSpPr>
        <p:spPr>
          <a:xfrm>
            <a:off x="619017" y="2528894"/>
            <a:ext cx="16768870" cy="689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delivers a fully functional three-in-one student portal with a responsive sidebar navigation system. The dashboard displays real-time clock updates and academic summaries, the course database presents scrollable grade records, and the virtual assistant responds accurately to four FAQ categories without any crash or input errors.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Learnings: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Frameworks: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Learned to design multi-page interfaces using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frames, manage window geometry, and implement custom color palettes for professional branding.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Control Logic: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Mastered frame switching with 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tkraise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 and event-driven button commands to navigate between different pages without opening new windows.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Presentation: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Gained experience using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Treeview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widget to display structured tabular data with scrollbars and column formatting.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 Design: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Discovered that button-driven interactions eliminate typing errors and provide a more intuitive experience compared to command-line interfaces.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515</Words>
  <Application>Microsoft Office PowerPoint</Application>
  <PresentationFormat>Custom</PresentationFormat>
  <Paragraphs>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Times New Roman</vt:lpstr>
      <vt:lpstr>Arial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RajendraSingh</dc:creator>
  <cp:lastModifiedBy>rajendrarajpurohit954@outlook.com</cp:lastModifiedBy>
  <cp:revision>6</cp:revision>
  <dcterms:modified xsi:type="dcterms:W3CDTF">2026-07-12T06:08:53Z</dcterms:modified>
</cp:coreProperties>
</file>